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A4EF"/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-548640"/>
            <a:ext cx="2560320" cy="2560320"/>
          </a:xfrm>
          <a:prstGeom prst="ellipse">
            <a:avLst/>
          </a:prstGeom>
          <a:solidFill>
            <a:srgbClr val="1570EF">
              <a:alpha val="28000"/>
            </a:srgbClr>
          </a:solidFill>
          <a:ln w="12700">
            <a:solidFill>
              <a:srgbClr val="1570E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38160" y="365760"/>
            <a:ext cx="1645920" cy="1645920"/>
          </a:xfrm>
          <a:prstGeom prst="ellipse">
            <a:avLst/>
          </a:prstGeom>
          <a:solidFill>
            <a:srgbClr val="00A4EF">
              <a:alpha val="40000"/>
            </a:srgbClr>
          </a:solidFill>
          <a:ln w="12700">
            <a:solidFill>
              <a:srgbClr val="00A4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03920" y="3200400"/>
            <a:ext cx="1371600" cy="1371600"/>
          </a:xfrm>
          <a:prstGeom prst="ellipse">
            <a:avLst/>
          </a:prstGeom>
          <a:solidFill>
            <a:srgbClr val="1570EF">
              <a:alpha val="25000"/>
            </a:srgbClr>
          </a:solidFill>
          <a:ln w="12700">
            <a:solidFill>
              <a:srgbClr val="1570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292608"/>
            <a:ext cx="1371600" cy="292608"/>
          </a:xfrm>
          <a:prstGeom prst="rect">
            <a:avLst/>
          </a:prstGeom>
          <a:solidFill>
            <a:srgbClr val="00A4EF"/>
          </a:solidFill>
          <a:ln w="12700">
            <a:solidFill>
              <a:srgbClr val="00A4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9184" y="25603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F1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 ×  AI WORKSHOP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47472" y="100584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3C5F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Plan de Capacitación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47472" y="1508760"/>
            <a:ext cx="7315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Inteligencia</a:t>
            </a:r>
            <a:endParaRPr lang="en-US" sz="5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347472" y="320040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3C5F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 fundamentos a soluciones empresariales avanzadas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47472" y="3840480"/>
            <a:ext cx="1828800" cy="822960"/>
          </a:xfrm>
          <a:prstGeom prst="rect">
            <a:avLst/>
          </a:prstGeom>
          <a:solidFill>
            <a:srgbClr val="1570EF">
              <a:alpha val="20000"/>
            </a:srgbClr>
          </a:solidFill>
          <a:ln w="12700">
            <a:solidFill>
              <a:srgbClr val="1570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3840480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47472" y="427939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404872" y="3840480"/>
            <a:ext cx="1828800" cy="822960"/>
          </a:xfrm>
          <a:prstGeom prst="rect">
            <a:avLst/>
          </a:prstGeom>
          <a:solidFill>
            <a:srgbClr val="1570EF">
              <a:alpha val="20000"/>
            </a:srgbClr>
          </a:solidFill>
          <a:ln w="12700">
            <a:solidFill>
              <a:srgbClr val="1570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04872" y="3840480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404872" y="427939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462272" y="3840480"/>
            <a:ext cx="1828800" cy="822960"/>
          </a:xfrm>
          <a:prstGeom prst="rect">
            <a:avLst/>
          </a:prstGeom>
          <a:solidFill>
            <a:srgbClr val="1570EF">
              <a:alpha val="20000"/>
            </a:srgbClr>
          </a:solidFill>
          <a:ln w="12700">
            <a:solidFill>
              <a:srgbClr val="1570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62272" y="3840480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28h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462272" y="427939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Duración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519672" y="3840480"/>
            <a:ext cx="1828800" cy="822960"/>
          </a:xfrm>
          <a:prstGeom prst="rect">
            <a:avLst/>
          </a:prstGeom>
          <a:solidFill>
            <a:srgbClr val="1570EF">
              <a:alpha val="20000"/>
            </a:srgbClr>
          </a:solidFill>
          <a:ln w="12700">
            <a:solidFill>
              <a:srgbClr val="1570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19672" y="3840480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519672" y="427939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F6B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731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A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DEL PROGRAMA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402336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vamos a construir juntos?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4023360" cy="15544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88720"/>
            <a:ext cx="502920" cy="1554480"/>
          </a:xfrm>
          <a:prstGeom prst="rect">
            <a:avLst/>
          </a:prstGeom>
          <a:solidFill>
            <a:srgbClr val="1570EF"/>
          </a:solidFill>
          <a:ln w="12700">
            <a:solidFill>
              <a:srgbClr val="1570E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737360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1298448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Dominar el ecosistema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14400" y="1645920"/>
            <a:ext cx="3337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Foundry, Copilot Studio, OpenAI Service, Semantic Kernel y Microsoft Fabric AI — cada herramienta en su contexto correcto.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709160" y="1188720"/>
            <a:ext cx="4023360" cy="15544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09160" y="1188720"/>
            <a:ext cx="502920" cy="15544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737360"/>
            <a:ext cx="310896" cy="3108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03520" y="1298448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soluciones reales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5303520" y="1645920"/>
            <a:ext cx="3337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Chatbots, agentes autónomos, pipelines RAG, fine-tuning y MLOps. Al terminar cada track, el equipo entrega un artefacto funcional.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320040" y="2971800"/>
            <a:ext cx="4023360" cy="15544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320040" y="2971800"/>
            <a:ext cx="502920" cy="1554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520440"/>
            <a:ext cx="310896" cy="31089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14400" y="3081528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 de competencia propio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914400" y="3429000"/>
            <a:ext cx="3337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un equipo interno capaz de diseñar, desplegar y escalar iniciativas de IA de forma autónoma, sin depender de terceros.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4709160" y="2971800"/>
            <a:ext cx="4023360" cy="15544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4709160" y="2971800"/>
            <a:ext cx="502920" cy="15544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3520440"/>
            <a:ext cx="310896" cy="31089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303520" y="3081528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responsable y segura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5303520" y="3429000"/>
            <a:ext cx="3337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Guardrails, content safety, responsible AI, governance de modelos y manejo de costos de inferencia desde el primer día.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F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A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DEL PROGRAMA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Tracks · 3 Niveles · Progresión completa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56032" y="1188720"/>
            <a:ext cx="1572768" cy="3383280"/>
          </a:xfrm>
          <a:prstGeom prst="rect">
            <a:avLst/>
          </a:prstGeom>
          <a:solidFill>
            <a:srgbClr val="0A4D9E"/>
          </a:solidFill>
          <a:ln w="15240">
            <a:solidFill>
              <a:srgbClr val="1570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1188720"/>
            <a:ext cx="1572768" cy="548640"/>
          </a:xfrm>
          <a:prstGeom prst="rect">
            <a:avLst/>
          </a:prstGeom>
          <a:solidFill>
            <a:srgbClr val="1570EF"/>
          </a:solidFill>
          <a:ln w="12700">
            <a:solidFill>
              <a:srgbClr val="1570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1261872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01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8912" y="1874520"/>
            <a:ext cx="1207008" cy="274320"/>
          </a:xfrm>
          <a:prstGeom prst="rect">
            <a:avLst/>
          </a:prstGeom>
          <a:solidFill>
            <a:srgbClr val="00A4EF">
              <a:alpha val="25000"/>
            </a:srgbClr>
          </a:solidFill>
          <a:ln w="12700">
            <a:solidFill>
              <a:srgbClr val="00A4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892808"/>
            <a:ext cx="12070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Básico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29184" y="2240280"/>
            <a:ext cx="14264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de IA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29184" y="2560320"/>
            <a:ext cx="14264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Azure AI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29184" y="3063240"/>
            <a:ext cx="1426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sesiones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29184" y="3337560"/>
            <a:ext cx="1426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horas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3794760"/>
            <a:ext cx="1353312" cy="621792"/>
          </a:xfrm>
          <a:prstGeom prst="rect">
            <a:avLst/>
          </a:prstGeom>
          <a:solidFill>
            <a:srgbClr val="0F1F6B">
              <a:alpha val="70000"/>
            </a:srgbClr>
          </a:solidFill>
          <a:ln w="6350">
            <a:solidFill>
              <a:srgbClr val="1570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822192"/>
            <a:ext cx="1353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57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93192" y="4023360"/>
            <a:ext cx="1298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Solución funcional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993392" y="1188720"/>
            <a:ext cx="1572768" cy="3383280"/>
          </a:xfrm>
          <a:prstGeom prst="rect">
            <a:avLst/>
          </a:prstGeom>
          <a:solidFill>
            <a:srgbClr val="065F46"/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93392" y="1188720"/>
            <a:ext cx="1572768" cy="5486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93392" y="1261872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02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176272" y="1874520"/>
            <a:ext cx="1207008" cy="274320"/>
          </a:xfrm>
          <a:prstGeom prst="rect">
            <a:avLst/>
          </a:prstGeom>
          <a:solidFill>
            <a:srgbClr val="D97706">
              <a:alpha val="25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76272" y="1892808"/>
            <a:ext cx="12070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Intermedio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066544" y="2240280"/>
            <a:ext cx="14264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066544" y="2560320"/>
            <a:ext cx="14264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Conversacionales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066544" y="3063240"/>
            <a:ext cx="1426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sesiones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066544" y="3337560"/>
            <a:ext cx="1426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horas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103120" y="3794760"/>
            <a:ext cx="1353312" cy="621792"/>
          </a:xfrm>
          <a:prstGeom prst="rect">
            <a:avLst/>
          </a:prstGeom>
          <a:solidFill>
            <a:srgbClr val="0F1F6B">
              <a:alpha val="70000"/>
            </a:srgbClr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103120" y="3822192"/>
            <a:ext cx="1353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2130552" y="4023360"/>
            <a:ext cx="1298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Solución funcional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730752" y="1188720"/>
            <a:ext cx="1572768" cy="3383280"/>
          </a:xfrm>
          <a:prstGeom prst="rect">
            <a:avLst/>
          </a:prstGeom>
          <a:solidFill>
            <a:srgbClr val="92400E"/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730752" y="1188720"/>
            <a:ext cx="1572768" cy="5486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30752" y="1261872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03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913632" y="1874520"/>
            <a:ext cx="1207008" cy="274320"/>
          </a:xfrm>
          <a:prstGeom prst="rect">
            <a:avLst/>
          </a:prstGeom>
          <a:solidFill>
            <a:srgbClr val="D97706">
              <a:alpha val="25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913632" y="1892808"/>
            <a:ext cx="12070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Intermedio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803904" y="2240280"/>
            <a:ext cx="14264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&amp;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3803904" y="2560320"/>
            <a:ext cx="14264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Semántica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3803904" y="3063240"/>
            <a:ext cx="1426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sesiones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803904" y="3337560"/>
            <a:ext cx="1426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horas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840480" y="3794760"/>
            <a:ext cx="1353312" cy="621792"/>
          </a:xfrm>
          <a:prstGeom prst="rect">
            <a:avLst/>
          </a:prstGeom>
          <a:solidFill>
            <a:srgbClr val="0F1F6B">
              <a:alpha val="70000"/>
            </a:srgbClr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840480" y="3822192"/>
            <a:ext cx="1353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3867912" y="4023360"/>
            <a:ext cx="1298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Solución funcional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468112" y="1188720"/>
            <a:ext cx="1572768" cy="3383280"/>
          </a:xfrm>
          <a:prstGeom prst="rect">
            <a:avLst/>
          </a:prstGeom>
          <a:solidFill>
            <a:srgbClr val="4C1D95"/>
          </a:solidFill>
          <a:ln w="15240">
            <a:solidFill>
              <a:srgbClr val="7C3AE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468112" y="1188720"/>
            <a:ext cx="1572768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68112" y="1261872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04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5650992" y="1874520"/>
            <a:ext cx="1207008" cy="274320"/>
          </a:xfrm>
          <a:prstGeom prst="rect">
            <a:avLst/>
          </a:prstGeom>
          <a:solidFill>
            <a:srgbClr val="DC2626">
              <a:alpha val="25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650992" y="1892808"/>
            <a:ext cx="12070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Avanzado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5541264" y="2240280"/>
            <a:ext cx="14264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Agentes Autónomos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5541264" y="2560320"/>
            <a:ext cx="14264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Multi-agente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5541264" y="3063240"/>
            <a:ext cx="1426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sesiones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5541264" y="3337560"/>
            <a:ext cx="1426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horas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5577840" y="3794760"/>
            <a:ext cx="1353312" cy="621792"/>
          </a:xfrm>
          <a:prstGeom prst="rect">
            <a:avLst/>
          </a:prstGeom>
          <a:solidFill>
            <a:srgbClr val="0F1F6B">
              <a:alpha val="70000"/>
            </a:srgbClr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577840" y="3822192"/>
            <a:ext cx="1353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5605272" y="4023360"/>
            <a:ext cx="1298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Solución funcional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7205472" y="1188720"/>
            <a:ext cx="1572768" cy="3383280"/>
          </a:xfrm>
          <a:prstGeom prst="rect">
            <a:avLst/>
          </a:prstGeom>
          <a:solidFill>
            <a:srgbClr val="7F1D1D"/>
          </a:solidFill>
          <a:ln w="15240">
            <a:solidFill>
              <a:srgbClr val="DC262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205472" y="1188720"/>
            <a:ext cx="1572768" cy="5486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205472" y="1261872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05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7388352" y="1874520"/>
            <a:ext cx="1207008" cy="274320"/>
          </a:xfrm>
          <a:prstGeom prst="rect">
            <a:avLst/>
          </a:prstGeom>
          <a:solidFill>
            <a:srgbClr val="DC2626">
              <a:alpha val="25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388352" y="1892808"/>
            <a:ext cx="12070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Avanzado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7278624" y="2240280"/>
            <a:ext cx="14264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sobre Datos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7278624" y="2560320"/>
            <a:ext cx="14264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Fine-tuning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7278624" y="3063240"/>
            <a:ext cx="1426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sesiones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7278624" y="3337560"/>
            <a:ext cx="1426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horas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7315200" y="3794760"/>
            <a:ext cx="1353312" cy="621792"/>
          </a:xfrm>
          <a:prstGeom prst="rect">
            <a:avLst/>
          </a:prstGeom>
          <a:solidFill>
            <a:srgbClr val="0F1F6B">
              <a:alpha val="70000"/>
            </a:srgbClr>
          </a:solidFill>
          <a:ln w="6350">
            <a:solidFill>
              <a:srgbClr val="DC262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315200" y="3822192"/>
            <a:ext cx="1353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7342632" y="4023360"/>
            <a:ext cx="1298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Solución funcional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3200400" y="4773168"/>
            <a:ext cx="164592" cy="164592"/>
          </a:xfrm>
          <a:prstGeom prst="rect">
            <a:avLst/>
          </a:prstGeom>
          <a:solidFill>
            <a:srgbClr val="00A4EF"/>
          </a:solidFill>
          <a:ln w="12700">
            <a:solidFill>
              <a:srgbClr val="00A4E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429000" y="475488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Básico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4572000" y="4773168"/>
            <a:ext cx="164592" cy="1645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800600" y="475488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Intermedio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5943600" y="4773168"/>
            <a:ext cx="164592" cy="1645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172200" y="475488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Avanzado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F6B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7315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57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01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36576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de IA &amp; Azure AI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132320" y="164592"/>
            <a:ext cx="822960" cy="548640"/>
          </a:xfrm>
          <a:prstGeom prst="rect">
            <a:avLst/>
          </a:prstGeom>
          <a:solidFill>
            <a:srgbClr val="1570EF">
              <a:alpha val="25000"/>
            </a:srgbClr>
          </a:solidFill>
          <a:ln w="12700">
            <a:solidFill>
              <a:srgbClr val="1570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0" y="164592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ses.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8065008" y="164592"/>
            <a:ext cx="822960" cy="548640"/>
          </a:xfrm>
          <a:prstGeom prst="rect">
            <a:avLst/>
          </a:prstGeom>
          <a:solidFill>
            <a:srgbClr val="1570EF">
              <a:alpha val="25000"/>
            </a:srgbClr>
          </a:solidFill>
          <a:ln w="12700">
            <a:solidFill>
              <a:srgbClr val="1570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65008" y="164592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4h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051560"/>
            <a:ext cx="8503920" cy="292608"/>
          </a:xfrm>
          <a:prstGeom prst="rect">
            <a:avLst/>
          </a:prstGeom>
          <a:solidFill>
            <a:srgbClr val="E8F0FE"/>
          </a:solidFill>
          <a:ln w="3810">
            <a:solidFill>
              <a:srgbClr val="93C5F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051560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Audiencia: Todos los perfiles — técnicos y negocio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" y="1444752"/>
            <a:ext cx="8503920" cy="13716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1444752"/>
            <a:ext cx="457200" cy="1371600"/>
          </a:xfrm>
          <a:prstGeom prst="rect">
            <a:avLst/>
          </a:prstGeom>
          <a:solidFill>
            <a:srgbClr val="1570EF"/>
          </a:solidFill>
          <a:ln w="12700">
            <a:solidFill>
              <a:srgbClr val="1570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" y="1965960"/>
            <a:ext cx="4389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S1.1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877824" y="153619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ecosistema IA de Microsoft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77824" y="1828800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Panorama completo: Azure OpenAI, AI Foundry, Copilot Studio, Fabric AI. Mapa de herramientas por caso de uso. IA generativa vs predictiva vs visión.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035040" y="1517904"/>
            <a:ext cx="269748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08192" y="1536192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Herramientas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108192" y="1746504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Foundry · Copilot Studio · Semantic Kernel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108192" y="2432304"/>
            <a:ext cx="1828800" cy="256032"/>
          </a:xfrm>
          <a:prstGeom prst="rect">
            <a:avLst/>
          </a:prstGeom>
          <a:solidFill>
            <a:srgbClr val="D97706">
              <a:alpha val="18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08192" y="243230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+ Demo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20040" y="2907792"/>
            <a:ext cx="8503920" cy="13716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2907792"/>
            <a:ext cx="457200" cy="1371600"/>
          </a:xfrm>
          <a:prstGeom prst="rect">
            <a:avLst/>
          </a:prstGeom>
          <a:solidFill>
            <a:srgbClr val="1570EF"/>
          </a:solidFill>
          <a:ln w="12700">
            <a:solidFill>
              <a:srgbClr val="1570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9184" y="3429000"/>
            <a:ext cx="4389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S1.2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877824" y="299923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Primeros pasos &amp; Prompt Engineering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77824" y="3291840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prompts, parámetros (temperature, top-p). Técnicas: few-shot, chain-of-thought, role prompting. Laboratorio: biblioteca de prompts por área.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035040" y="2980944"/>
            <a:ext cx="269748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08192" y="2999232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Herramientas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108192" y="3209544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Foundry Playground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108192" y="3895344"/>
            <a:ext cx="1828800" cy="256032"/>
          </a:xfrm>
          <a:prstGeom prst="rect">
            <a:avLst/>
          </a:prstGeom>
          <a:solidFill>
            <a:srgbClr val="1570EF">
              <a:alpha val="18000"/>
            </a:srgbClr>
          </a:solidFill>
          <a:ln w="12700">
            <a:solidFill>
              <a:srgbClr val="1570E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08192" y="389534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A4D9E"/>
          </a:solidFill>
          <a:ln/>
        </p:spPr>
      </p:sp>
      <p:sp>
        <p:nvSpPr>
          <p:cNvPr id="32" name="Text 30"/>
          <p:cNvSpPr/>
          <p:nvPr/>
        </p:nvSpPr>
        <p:spPr>
          <a:xfrm>
            <a:off x="365760" y="4754880"/>
            <a:ext cx="850392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Entregable: Biblioteca de prompts por área de negocio (ventas, operaciones, TI)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F6B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7315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02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36576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Agentes Conversacionales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132320" y="164592"/>
            <a:ext cx="822960" cy="548640"/>
          </a:xfrm>
          <a:prstGeom prst="rect">
            <a:avLst/>
          </a:prstGeom>
          <a:solidFill>
            <a:srgbClr val="059669">
              <a:alpha val="25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0" y="164592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ses.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8065008" y="164592"/>
            <a:ext cx="822960" cy="548640"/>
          </a:xfrm>
          <a:prstGeom prst="rect">
            <a:avLst/>
          </a:prstGeom>
          <a:solidFill>
            <a:srgbClr val="059669">
              <a:alpha val="25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65008" y="164592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6h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051560"/>
            <a:ext cx="8503920" cy="292608"/>
          </a:xfrm>
          <a:prstGeom prst="rect">
            <a:avLst/>
          </a:prstGeom>
          <a:solidFill>
            <a:srgbClr val="E8F0FE"/>
          </a:solidFill>
          <a:ln w="3810">
            <a:solidFill>
              <a:srgbClr val="93C5F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051560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Audiencia: Negocio + TI — sin necesidad de código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" y="1444752"/>
            <a:ext cx="8503920" cy="111556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1444752"/>
            <a:ext cx="457200" cy="11155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" y="1837944"/>
            <a:ext cx="4389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S2.1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877824" y="153619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agentes con Copilot Studio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77824" y="1828800"/>
            <a:ext cx="502920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Arquitectura: intenciones, entidades, diálogos. Conexión a fuentes de conocimiento internas. Despliegue en Teams y web.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035040" y="1517904"/>
            <a:ext cx="2697480" cy="9509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08192" y="1536192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Herramientas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108192" y="1746504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Studio · Teams · SharePoint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108192" y="2176272"/>
            <a:ext cx="1828800" cy="256032"/>
          </a:xfrm>
          <a:prstGeom prst="rect">
            <a:avLst/>
          </a:prstGeom>
          <a:solidFill>
            <a:srgbClr val="1570EF">
              <a:alpha val="18000"/>
            </a:srgbClr>
          </a:solidFill>
          <a:ln w="12700">
            <a:solidFill>
              <a:srgbClr val="1570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08192" y="217627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20040" y="2651760"/>
            <a:ext cx="8503920" cy="111556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2651760"/>
            <a:ext cx="457200" cy="11155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9184" y="3044952"/>
            <a:ext cx="4389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S2.2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877824" y="27432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Conectores, APIs y Power Automate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77824" y="3035808"/>
            <a:ext cx="502920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el agente con ERP, CRM y APIs REST. Flujos de automatización disparados desde el agente. Manejo de autenticación.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035040" y="2724912"/>
            <a:ext cx="2697480" cy="9509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08192" y="2743200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Herramientas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108192" y="295351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Automate · Copilot Studio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108192" y="3383280"/>
            <a:ext cx="1828800" cy="256032"/>
          </a:xfrm>
          <a:prstGeom prst="rect">
            <a:avLst/>
          </a:prstGeom>
          <a:solidFill>
            <a:srgbClr val="1570EF">
              <a:alpha val="18000"/>
            </a:srgbClr>
          </a:solidFill>
          <a:ln w="12700">
            <a:solidFill>
              <a:srgbClr val="1570E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08192" y="338328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20040" y="3858768"/>
            <a:ext cx="8503920" cy="111556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" y="3858768"/>
            <a:ext cx="457200" cy="11155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9184" y="4251960"/>
            <a:ext cx="4389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S2.3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877824" y="395020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Hackathon: tu primer agente de negocio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77824" y="4242816"/>
            <a:ext cx="502920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equipo diseña y despliega un agente para un caso real (mesa de ayuda, onboarding, consulta de inventario). Revisión por el equipo Microsoft.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035040" y="3931920"/>
            <a:ext cx="2697480" cy="9509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08192" y="3950208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Herramientas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108192" y="41605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Studio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108192" y="4590288"/>
            <a:ext cx="1828800" cy="256032"/>
          </a:xfrm>
          <a:prstGeom prst="rect">
            <a:avLst/>
          </a:prstGeom>
          <a:solidFill>
            <a:srgbClr val="7C3AED">
              <a:alpha val="18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108192" y="459028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42" name="Text 40"/>
          <p:cNvSpPr/>
          <p:nvPr/>
        </p:nvSpPr>
        <p:spPr>
          <a:xfrm>
            <a:off x="365760" y="4754880"/>
            <a:ext cx="850392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Entregable: Agente en Teams o web funcional, listo para piloto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F6B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7315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03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36576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&amp; Búsqueda Semántica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132320" y="164592"/>
            <a:ext cx="822960" cy="548640"/>
          </a:xfrm>
          <a:prstGeom prst="rect">
            <a:avLst/>
          </a:prstGeom>
          <a:solidFill>
            <a:srgbClr val="D97706">
              <a:alpha val="25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0" y="164592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ses.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8065008" y="164592"/>
            <a:ext cx="822960" cy="548640"/>
          </a:xfrm>
          <a:prstGeom prst="rect">
            <a:avLst/>
          </a:prstGeom>
          <a:solidFill>
            <a:srgbClr val="D97706">
              <a:alpha val="25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65008" y="164592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6h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051560"/>
            <a:ext cx="8503920" cy="292608"/>
          </a:xfrm>
          <a:prstGeom prst="rect">
            <a:avLst/>
          </a:prstGeom>
          <a:solidFill>
            <a:srgbClr val="E8F0FE"/>
          </a:solidFill>
          <a:ln w="3810">
            <a:solidFill>
              <a:srgbClr val="93C5F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051560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Audiencia: Perfiles técnicos — desarrolladores y arquitectos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" y="1444752"/>
            <a:ext cx="8503920" cy="111556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1444752"/>
            <a:ext cx="457200" cy="11155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" y="1837944"/>
            <a:ext cx="4389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S3.1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877824" y="153619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RAG — fundamentos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77824" y="1828800"/>
            <a:ext cx="502920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Embeddings, búsqueda vectorial, chunking e indexación. Cuándo usar RAG vs fine-tuning. Patrones: naive RAG, advanced RAG, agentic RAG.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035040" y="1517904"/>
            <a:ext cx="2697480" cy="9509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08192" y="1536192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Herramientas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108192" y="1746504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Search · Azure OpenAI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108192" y="2176272"/>
            <a:ext cx="1828800" cy="256032"/>
          </a:xfrm>
          <a:prstGeom prst="rect">
            <a:avLst/>
          </a:prstGeom>
          <a:solidFill>
            <a:srgbClr val="D97706">
              <a:alpha val="18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08192" y="217627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+ Demo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20040" y="2651760"/>
            <a:ext cx="8503920" cy="111556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2651760"/>
            <a:ext cx="457200" cy="11155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9184" y="3044952"/>
            <a:ext cx="4389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S3.2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877824" y="27432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Construyendo un pipeline RAG completo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77824" y="3035808"/>
            <a:ext cx="502920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Ingestión de PDFs/Word, embeddings con text-embedding-3, indexación y consulta con GPT-4o. Evaluación: groundedness, relevance, coherence.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035040" y="2724912"/>
            <a:ext cx="2697480" cy="9509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08192" y="2743200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Herramientas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108192" y="295351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Foundry · AI Search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108192" y="3383280"/>
            <a:ext cx="1828800" cy="256032"/>
          </a:xfrm>
          <a:prstGeom prst="rect">
            <a:avLst/>
          </a:prstGeom>
          <a:solidFill>
            <a:srgbClr val="1570EF">
              <a:alpha val="18000"/>
            </a:srgbClr>
          </a:solidFill>
          <a:ln w="12700">
            <a:solidFill>
              <a:srgbClr val="1570E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08192" y="338328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20040" y="3858768"/>
            <a:ext cx="8503920" cy="111556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" y="3858768"/>
            <a:ext cx="457200" cy="11155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9184" y="4251960"/>
            <a:ext cx="4389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S3.3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877824" y="395020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avanzado: multimodal &amp; guardrails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77824" y="4242816"/>
            <a:ext cx="502920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Procesamiento de imágenes y tablas. Reranking semántico. Content safety filters y grounding checks. Orquestación con Semantic Kernel.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035040" y="3931920"/>
            <a:ext cx="2697480" cy="9509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08192" y="3950208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Herramientas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108192" y="41605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Kernel · AI Search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108192" y="4590288"/>
            <a:ext cx="1828800" cy="256032"/>
          </a:xfrm>
          <a:prstGeom prst="rect">
            <a:avLst/>
          </a:prstGeom>
          <a:solidFill>
            <a:srgbClr val="1570EF">
              <a:alpha val="18000"/>
            </a:srgbClr>
          </a:solidFill>
          <a:ln w="12700">
            <a:solidFill>
              <a:srgbClr val="1570E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108192" y="459028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92400E"/>
          </a:solidFill>
          <a:ln/>
        </p:spPr>
      </p:sp>
      <p:sp>
        <p:nvSpPr>
          <p:cNvPr id="42" name="Text 40"/>
          <p:cNvSpPr/>
          <p:nvPr/>
        </p:nvSpPr>
        <p:spPr>
          <a:xfrm>
            <a:off x="365760" y="4754880"/>
            <a:ext cx="850392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Entregable: Pipeline RAG sobre documentos de la empresa con evaluación automática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F6B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7315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04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36576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Agentes Autónomos &amp; Multi-agente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132320" y="164592"/>
            <a:ext cx="822960" cy="548640"/>
          </a:xfrm>
          <a:prstGeom prst="rect">
            <a:avLst/>
          </a:prstGeom>
          <a:solidFill>
            <a:srgbClr val="7C3AED">
              <a:alpha val="2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0" y="164592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ses.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8065008" y="164592"/>
            <a:ext cx="822960" cy="548640"/>
          </a:xfrm>
          <a:prstGeom prst="rect">
            <a:avLst/>
          </a:prstGeom>
          <a:solidFill>
            <a:srgbClr val="7C3AED">
              <a:alpha val="2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65008" y="164592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6h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051560"/>
            <a:ext cx="8503920" cy="292608"/>
          </a:xfrm>
          <a:prstGeom prst="rect">
            <a:avLst/>
          </a:prstGeom>
          <a:solidFill>
            <a:srgbClr val="E8F0FE"/>
          </a:solidFill>
          <a:ln w="3810">
            <a:solidFill>
              <a:srgbClr val="93C5F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051560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Audiencia: Perfiles técnicos senior — ingenieros de IA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" y="1444752"/>
            <a:ext cx="8503920" cy="111556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1444752"/>
            <a:ext cx="457200" cy="11155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" y="1837944"/>
            <a:ext cx="4389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S4.1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877824" y="153619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chatbot a agente autónomo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77824" y="1828800"/>
            <a:ext cx="502920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loop, tool calling, memoria a corto/largo plazo. Structured outputs y code interpreter. Diseño de herramientas seguras y confiables.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035040" y="1517904"/>
            <a:ext cx="2697480" cy="9509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08192" y="1536192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Herramientas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108192" y="1746504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OpenAI · Function Calling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108192" y="2176272"/>
            <a:ext cx="1828800" cy="256032"/>
          </a:xfrm>
          <a:prstGeom prst="rect">
            <a:avLst/>
          </a:prstGeom>
          <a:solidFill>
            <a:srgbClr val="D97706">
              <a:alpha val="18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08192" y="217627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+ Demo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20040" y="2651760"/>
            <a:ext cx="8503920" cy="111556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2651760"/>
            <a:ext cx="457200" cy="11155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9184" y="3044952"/>
            <a:ext cx="4389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S4.2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877824" y="27432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multi-agente con AutoGen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77824" y="3035808"/>
            <a:ext cx="502920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Patrones: Orchestrator/Worker, debate, reflexión. Pipeline multi-agente colaborativo: análisis, redacción, validación. Handoffs y estado compartido.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035040" y="2724912"/>
            <a:ext cx="2697480" cy="9509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08192" y="2743200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Herramientas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108192" y="295351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AutoGen · Semantic Kernel Agents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108192" y="3383280"/>
            <a:ext cx="1828800" cy="256032"/>
          </a:xfrm>
          <a:prstGeom prst="rect">
            <a:avLst/>
          </a:prstGeom>
          <a:solidFill>
            <a:srgbClr val="1570EF">
              <a:alpha val="18000"/>
            </a:srgbClr>
          </a:solidFill>
          <a:ln w="12700">
            <a:solidFill>
              <a:srgbClr val="1570E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08192" y="338328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20040" y="3858768"/>
            <a:ext cx="8503920" cy="111556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" y="3858768"/>
            <a:ext cx="457200" cy="11155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9184" y="4251960"/>
            <a:ext cx="4389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S4.3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877824" y="395020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Despliegue, observabilidad y seguridad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77824" y="4242816"/>
            <a:ext cx="502920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Containerización y despliegue. Logging y trazabilidad. Responsible AI: límites de acción, human-in-the-loop. Gestión de costos.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035040" y="3931920"/>
            <a:ext cx="2697480" cy="9509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08192" y="3950208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Herramientas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108192" y="41605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Container Apps · Azure Monitor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108192" y="4590288"/>
            <a:ext cx="1828800" cy="256032"/>
          </a:xfrm>
          <a:prstGeom prst="rect">
            <a:avLst/>
          </a:prstGeom>
          <a:solidFill>
            <a:srgbClr val="1570EF">
              <a:alpha val="18000"/>
            </a:srgbClr>
          </a:solidFill>
          <a:ln w="12700">
            <a:solidFill>
              <a:srgbClr val="1570E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108192" y="459028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4C1D95"/>
          </a:solidFill>
          <a:ln/>
        </p:spPr>
      </p:sp>
      <p:sp>
        <p:nvSpPr>
          <p:cNvPr id="42" name="Text 40"/>
          <p:cNvSpPr/>
          <p:nvPr/>
        </p:nvSpPr>
        <p:spPr>
          <a:xfrm>
            <a:off x="365760" y="4754880"/>
            <a:ext cx="850392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Entregable: Agente autónomo en Azure con dashboard de observabilidad activo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F6B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7315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05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36576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sobre Datos &amp; Fine-tuning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132320" y="164592"/>
            <a:ext cx="822960" cy="548640"/>
          </a:xfrm>
          <a:prstGeom prst="rect">
            <a:avLst/>
          </a:prstGeom>
          <a:solidFill>
            <a:srgbClr val="DC2626">
              <a:alpha val="25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0" y="164592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ses.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8065008" y="164592"/>
            <a:ext cx="822960" cy="548640"/>
          </a:xfrm>
          <a:prstGeom prst="rect">
            <a:avLst/>
          </a:prstGeom>
          <a:solidFill>
            <a:srgbClr val="DC2626">
              <a:alpha val="25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65008" y="164592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6h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051560"/>
            <a:ext cx="8503920" cy="292608"/>
          </a:xfrm>
          <a:prstGeom prst="rect">
            <a:avLst/>
          </a:prstGeom>
          <a:solidFill>
            <a:srgbClr val="E8F0FE"/>
          </a:solidFill>
          <a:ln w="3810">
            <a:solidFill>
              <a:srgbClr val="93C5F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051560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Audiencia: Data scientists y ML engineers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" y="1444752"/>
            <a:ext cx="8503920" cy="111556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1444752"/>
            <a:ext cx="457200" cy="11155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" y="1837944"/>
            <a:ext cx="4389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S5.1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877824" y="153619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predictiva con Azure ML &amp; Fabric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77824" y="1828800"/>
            <a:ext cx="502920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Fabric + Azure ML. Feature engineering con Python/SQL. AutoML para clasificación, regresión y forecasting. Inferencia batch vs real-time.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035040" y="1517904"/>
            <a:ext cx="2697480" cy="9509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08192" y="1536192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Herramientas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108192" y="1746504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ML · Microsoft Fabric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108192" y="2176272"/>
            <a:ext cx="1828800" cy="256032"/>
          </a:xfrm>
          <a:prstGeom prst="rect">
            <a:avLst/>
          </a:prstGeom>
          <a:solidFill>
            <a:srgbClr val="1570EF">
              <a:alpha val="18000"/>
            </a:srgbClr>
          </a:solidFill>
          <a:ln w="12700">
            <a:solidFill>
              <a:srgbClr val="1570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08192" y="217627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20040" y="2651760"/>
            <a:ext cx="8503920" cy="111556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2651760"/>
            <a:ext cx="457200" cy="11155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9184" y="3044952"/>
            <a:ext cx="4389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S5.2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877824" y="27432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de modelos con Azure OpenAI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77824" y="3035808"/>
            <a:ext cx="502920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Cuándo hacer fine-tuning vs RAG. Preparación de datasets JSONL. Fine-tuning de GPT-4o-mini. Evaluación post-fine-tuning: benchmarks y métricas.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035040" y="2724912"/>
            <a:ext cx="2697480" cy="9509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08192" y="2743200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Herramientas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108192" y="295351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OpenAI · Azure ML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108192" y="3383280"/>
            <a:ext cx="1828800" cy="256032"/>
          </a:xfrm>
          <a:prstGeom prst="rect">
            <a:avLst/>
          </a:prstGeom>
          <a:solidFill>
            <a:srgbClr val="1570EF">
              <a:alpha val="18000"/>
            </a:srgbClr>
          </a:solidFill>
          <a:ln w="12700">
            <a:solidFill>
              <a:srgbClr val="1570E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08192" y="338328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20040" y="3858768"/>
            <a:ext cx="8503920" cy="111556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" y="3858768"/>
            <a:ext cx="457200" cy="11155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9184" y="4251960"/>
            <a:ext cx="4389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S5.3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877824" y="395020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— CI/CD para modelos en producción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77824" y="4242816"/>
            <a:ext cx="502920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completo: train → evaluate → register → deploy → monitor. GitHub Actions + Azure ML Pipelines. Data drift, model drift y governance.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035040" y="3931920"/>
            <a:ext cx="2697480" cy="9509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08192" y="3950208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Herramientas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108192" y="41605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ML · GitHub Actions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108192" y="4590288"/>
            <a:ext cx="1828800" cy="256032"/>
          </a:xfrm>
          <a:prstGeom prst="rect">
            <a:avLst/>
          </a:prstGeom>
          <a:solidFill>
            <a:srgbClr val="1570EF">
              <a:alpha val="18000"/>
            </a:srgbClr>
          </a:solidFill>
          <a:ln w="12700">
            <a:solidFill>
              <a:srgbClr val="1570E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108192" y="459028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7F1D1D"/>
          </a:solidFill>
          <a:ln/>
        </p:spPr>
      </p:sp>
      <p:sp>
        <p:nvSpPr>
          <p:cNvPr id="42" name="Text 40"/>
          <p:cNvSpPr/>
          <p:nvPr/>
        </p:nvSpPr>
        <p:spPr>
          <a:xfrm>
            <a:off x="365760" y="4754880"/>
            <a:ext cx="850392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Entregable: Pipeline MLOps completo con modelo propio en producción y monitoreo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F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A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SUGERIDO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Secuencia de implementación recomendada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8046720" cy="0"/>
          </a:xfrm>
          <a:prstGeom prst="line">
            <a:avLst/>
          </a:prstGeom>
          <a:noFill/>
          <a:ln w="19050">
            <a:solidFill>
              <a:srgbClr val="1570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240280"/>
            <a:ext cx="274320" cy="274320"/>
          </a:xfrm>
          <a:prstGeom prst="ellipse">
            <a:avLst/>
          </a:prstGeom>
          <a:solidFill>
            <a:srgbClr val="1570EF"/>
          </a:solidFill>
          <a:ln w="12700">
            <a:solidFill>
              <a:srgbClr val="1570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" y="17373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7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91440" y="2633472"/>
            <a:ext cx="1600200" cy="1280160"/>
          </a:xfrm>
          <a:prstGeom prst="rect">
            <a:avLst/>
          </a:prstGeom>
          <a:solidFill>
            <a:srgbClr val="FFFFFF">
              <a:alpha val="10000"/>
            </a:srgbClr>
          </a:solidFill>
          <a:ln w="10160">
            <a:solidFill>
              <a:srgbClr val="1570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" y="2724912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" y="329184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1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606040" y="2240280"/>
            <a:ext cx="274320" cy="27432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65960" y="17373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2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965960" y="2633472"/>
            <a:ext cx="1600200" cy="1280160"/>
          </a:xfrm>
          <a:prstGeom prst="rect">
            <a:avLst/>
          </a:prstGeom>
          <a:solidFill>
            <a:srgbClr val="FFFFFF">
              <a:alpha val="10000"/>
            </a:srgbClr>
          </a:solidFill>
          <a:ln w="1016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65960" y="2724912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Agentes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965960" y="329184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2-3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480560" y="2240280"/>
            <a:ext cx="274320" cy="2743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0" y="17373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3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840480" y="2633472"/>
            <a:ext cx="1600200" cy="1280160"/>
          </a:xfrm>
          <a:prstGeom prst="rect">
            <a:avLst/>
          </a:prstGeom>
          <a:solidFill>
            <a:srgbClr val="FFFFFF">
              <a:alpha val="10000"/>
            </a:srgbClr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0" y="2724912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Autónomo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840480" y="329184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4-5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355080" y="2240280"/>
            <a:ext cx="274320" cy="274320"/>
          </a:xfrm>
          <a:prstGeom prst="ellipse">
            <a:avLst/>
          </a:prstGeom>
          <a:solidFill>
            <a:srgbClr val="00A4EF"/>
          </a:solidFill>
          <a:ln w="12700">
            <a:solidFill>
              <a:srgbClr val="00A4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15000" y="17373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A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4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715000" y="2633472"/>
            <a:ext cx="1600200" cy="1280160"/>
          </a:xfrm>
          <a:prstGeom prst="rect">
            <a:avLst/>
          </a:prstGeom>
          <a:solidFill>
            <a:srgbClr val="FFFFFF">
              <a:alpha val="10000"/>
            </a:srgbClr>
          </a:solidFill>
          <a:ln w="10160">
            <a:solidFill>
              <a:srgbClr val="00A4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15000" y="2724912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715000" y="329184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8229600" y="2240280"/>
            <a:ext cx="274320" cy="27432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0" y="17373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5+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589520" y="2633472"/>
            <a:ext cx="1600200" cy="1280160"/>
          </a:xfrm>
          <a:prstGeom prst="rect">
            <a:avLst/>
          </a:prstGeom>
          <a:solidFill>
            <a:srgbClr val="FFFFFF">
              <a:alpha val="10000"/>
            </a:srgbClr>
          </a:solidFill>
          <a:ln w="10160">
            <a:solidFill>
              <a:srgbClr val="D9770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589520" y="2724912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 de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Competencia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589520" y="329184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11480" y="4251960"/>
            <a:ext cx="8321040" cy="640080"/>
          </a:xfrm>
          <a:prstGeom prst="rect">
            <a:avLst/>
          </a:prstGeom>
          <a:solidFill>
            <a:srgbClr val="1570EF">
              <a:alpha val="15000"/>
            </a:srgbClr>
          </a:solidFill>
          <a:ln w="6350">
            <a:solidFill>
              <a:srgbClr val="1570E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425196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tracks 2 y 3 pueden ejecutarse en paralelo con grupos separados (negocio vs técnico). El roadmap se adapta a la disponibilidad del equipo.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F6B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7315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A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NUESTRAS EXPECTATIVAS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38404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le pedimos al equipo Microsoft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2697480" cy="17373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97280"/>
            <a:ext cx="2697480" cy="347472"/>
          </a:xfrm>
          <a:prstGeom prst="rect">
            <a:avLst/>
          </a:prstGeom>
          <a:solidFill>
            <a:srgbClr val="1570EF"/>
          </a:solidFill>
          <a:ln w="12700">
            <a:solidFill>
              <a:srgbClr val="1570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3385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47472" y="148132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hands-on mínimo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47472" y="187452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sesión debe tener al menos 60% de tiempo en laboratorio activo, no solo demos ni slides.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154680" y="1097280"/>
            <a:ext cx="2697480" cy="17373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54680" y="1097280"/>
            <a:ext cx="2697480" cy="3474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113385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227832" y="148132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 Azure preconfigurado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227832" y="187452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Suscripción sandbox lista antes de la primera sesión con todos los servicios habilitados (OpenAI, AI Search, ML, Fabric).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035040" y="1097280"/>
            <a:ext cx="2697480" cy="17373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35040" y="1097280"/>
            <a:ext cx="269748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113385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108192" y="148132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adaptados a nuestra industria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108192" y="187452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laboratorios deben usar ejemplos y datos representativos de nuestro sector, no casos genéricos.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3017520"/>
            <a:ext cx="2697480" cy="17373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017520"/>
            <a:ext cx="2697480" cy="3474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05409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47472" y="340156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Materiales y código post-workshop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47472" y="379476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GitHub con todo el código, notebooks y recursos de cada sesión, disponibles por al menos 12 meses.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154680" y="3017520"/>
            <a:ext cx="2697480" cy="17373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154680" y="3017520"/>
            <a:ext cx="2697480" cy="3474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46120" y="305409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227832" y="340156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de seguimiento por track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227832" y="379476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técnica de 1h, 2-3 semanas después de cada track, para resolver dudas de implementación real.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35040" y="3017520"/>
            <a:ext cx="2697480" cy="17373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35040" y="3017520"/>
            <a:ext cx="2697480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26480" y="305409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108192" y="340156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Certificaciones incluidas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108192" y="379476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Vouchers de examen para AZ-900, AI-102 y DP-100 para los participantes que completen los tracks correspondientes.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F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A4EF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3200400"/>
            <a:ext cx="3200400" cy="3200400"/>
          </a:xfrm>
          <a:prstGeom prst="ellipse">
            <a:avLst/>
          </a:prstGeom>
          <a:solidFill>
            <a:srgbClr val="1570EF">
              <a:alpha val="18000"/>
            </a:srgbClr>
          </a:solidFill>
          <a:ln w="12700">
            <a:solidFill>
              <a:srgbClr val="1570E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9520" y="182880"/>
            <a:ext cx="2011680" cy="2011680"/>
          </a:xfrm>
          <a:prstGeom prst="ellipse">
            <a:avLst/>
          </a:prstGeom>
          <a:solidFill>
            <a:srgbClr val="00A4EF">
              <a:alpha val="28000"/>
            </a:srgbClr>
          </a:solidFill>
          <a:ln w="12700">
            <a:solidFill>
              <a:srgbClr val="00A4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mejor momento para</a:t>
            </a:r>
            <a:endParaRPr lang="en-US" sz="3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capacidades de IA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42316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A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hoy.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3246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3C5F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28 horas de formación · 5 entregables reales · 1 equipo listo para escalar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840480"/>
            <a:ext cx="2560320" cy="566928"/>
          </a:xfrm>
          <a:prstGeom prst="rect">
            <a:avLst/>
          </a:prstGeom>
          <a:solidFill>
            <a:srgbClr val="00A4EF"/>
          </a:solidFill>
          <a:ln w="12700">
            <a:solidFill>
              <a:srgbClr val="00A4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840480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Acordar fechas  →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0" y="3840480"/>
            <a:ext cx="2560320" cy="566928"/>
          </a:xfrm>
          <a:prstGeom prst="rect">
            <a:avLst/>
          </a:prstGeom>
          <a:solidFill>
            <a:srgbClr val="FFFFFF">
              <a:alpha val="10000"/>
            </a:srgbClr>
          </a:solidFill>
          <a:ln w="6350">
            <a:solidFill>
              <a:srgbClr val="93C5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3840480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propuesta Azure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 Workshops IA — Microsoft</dc:title>
  <dc:subject>PptxGenJS Presentation</dc:subject>
  <dc:creator>PptxGenJS</dc:creator>
  <cp:lastModifiedBy>PptxGenJS</cp:lastModifiedBy>
  <cp:revision>1</cp:revision>
  <dcterms:created xsi:type="dcterms:W3CDTF">2026-04-10T02:53:10Z</dcterms:created>
  <dcterms:modified xsi:type="dcterms:W3CDTF">2026-04-10T02:53:10Z</dcterms:modified>
</cp:coreProperties>
</file>